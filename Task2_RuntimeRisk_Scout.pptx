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73" r:id="rId3"/>
    <p:sldId id="258" r:id="rId4"/>
    <p:sldId id="259" r:id="rId5"/>
    <p:sldId id="261" r:id="rId6"/>
    <p:sldId id="268" r:id="rId7"/>
    <p:sldId id="266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51"/>
    <p:restoredTop sz="94867"/>
  </p:normalViewPr>
  <p:slideViewPr>
    <p:cSldViewPr snapToGrid="0" snapToObjects="1">
      <p:cViewPr varScale="1">
        <p:scale>
          <a:sx n="108" d="100"/>
          <a:sy n="108" d="100"/>
        </p:scale>
        <p:origin x="20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Singh" userId="82667981e13b34a4" providerId="LiveId" clId="{00CD5EAB-A648-5FCA-9EC6-121234E720C5}"/>
    <pc:docChg chg="undo custSel modSld">
      <pc:chgData name="Shubham Singh" userId="82667981e13b34a4" providerId="LiveId" clId="{00CD5EAB-A648-5FCA-9EC6-121234E720C5}" dt="2026-07-29T06:18:32.903" v="43" actId="6549"/>
      <pc:docMkLst>
        <pc:docMk/>
      </pc:docMkLst>
      <pc:sldChg chg="modSp mod">
        <pc:chgData name="Shubham Singh" userId="82667981e13b34a4" providerId="LiveId" clId="{00CD5EAB-A648-5FCA-9EC6-121234E720C5}" dt="2026-07-29T06:18:32.903" v="43" actId="6549"/>
        <pc:sldMkLst>
          <pc:docMk/>
          <pc:sldMk cId="0" sldId="256"/>
        </pc:sldMkLst>
        <pc:spChg chg="mod">
          <ac:chgData name="Shubham Singh" userId="82667981e13b34a4" providerId="LiveId" clId="{00CD5EAB-A648-5FCA-9EC6-121234E720C5}" dt="2026-07-29T06:18:32.903" v="43" actId="6549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F645D-D9ED-6843-901D-1AB4350B6749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6602F-430E-4C42-A5CB-5BA45FA7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15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6602F-430E-4C42-A5CB-5BA45FA7C0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40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463040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dirty="0">
                <a:solidFill>
                  <a:srgbClr val="1A5FA8"/>
                </a:solidFill>
              </a:rPr>
              <a:t>Velocity Aware</a:t>
            </a:r>
            <a:r>
              <a:rPr sz="4000" b="1" i="0" dirty="0">
                <a:solidFill>
                  <a:srgbClr val="1A5FA8"/>
                </a:solidFill>
              </a:rPr>
              <a:t> Risk Assessment on Scout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b="0" i="1" dirty="0">
                <a:solidFill>
                  <a:srgbClr val="444444"/>
                </a:solidFill>
              </a:rPr>
              <a:t>Include Velocity into existing perception-risk-feedback pipeline</a:t>
            </a:r>
            <a:endParaRPr sz="2200" b="0" i="1" dirty="0">
              <a:solidFill>
                <a:srgbClr val="444444"/>
              </a:solidFill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731520" y="3246120"/>
            <a:ext cx="10698480" cy="0"/>
          </a:xfrm>
          <a:prstGeom prst="line">
            <a:avLst/>
          </a:prstGeom>
          <a:ln w="19050">
            <a:solidFill>
              <a:srgbClr val="1A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3406140"/>
            <a:ext cx="10515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444444"/>
                </a:solidFill>
              </a:rPr>
              <a:t>Service Robots and Assistance Systems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RPTU Kaiserslautern-Landau  |  Adaptive Autonomy and Off-Road Robotics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51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444444"/>
                </a:solidFill>
              </a:rPr>
              <a:t>Supervisor: Catharina Helten  |  Prof. Dr. Patrick Wolf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515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i="0" dirty="0">
                <a:solidFill>
                  <a:srgbClr val="777777"/>
                </a:solidFill>
              </a:rPr>
              <a:t>29</a:t>
            </a:r>
            <a:r>
              <a:rPr lang="en-US" sz="1500" b="1" i="0" baseline="30000" dirty="0">
                <a:solidFill>
                  <a:srgbClr val="777777"/>
                </a:solidFill>
              </a:rPr>
              <a:t>th</a:t>
            </a:r>
            <a:r>
              <a:rPr lang="en-US" sz="1500" b="1" i="0" dirty="0">
                <a:solidFill>
                  <a:srgbClr val="777777"/>
                </a:solidFill>
              </a:rPr>
              <a:t> </a:t>
            </a:r>
            <a:r>
              <a:rPr lang="en-US" sz="1500" b="1" dirty="0">
                <a:solidFill>
                  <a:srgbClr val="777777"/>
                </a:solidFill>
              </a:rPr>
              <a:t>July</a:t>
            </a:r>
            <a:r>
              <a:rPr sz="1500" b="1" i="0" dirty="0">
                <a:solidFill>
                  <a:srgbClr val="777777"/>
                </a:solidFill>
              </a:rPr>
              <a:t> 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2B47C9-09CB-BC75-1430-CC209800C50F}"/>
              </a:ext>
            </a:extLst>
          </p:cNvPr>
          <p:cNvSpPr txBox="1"/>
          <p:nvPr/>
        </p:nvSpPr>
        <p:spPr>
          <a:xfrm>
            <a:off x="731520" y="5212080"/>
            <a:ext cx="10515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500" b="0" i="0" dirty="0">
                <a:solidFill>
                  <a:srgbClr val="444444"/>
                </a:solidFill>
              </a:rPr>
              <a:t>- Shubham Singh</a:t>
            </a:r>
            <a:endParaRPr sz="1500" b="0" i="0" dirty="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075E47-EE37-0F91-CEDE-8A7CC3FC6BE0}"/>
              </a:ext>
            </a:extLst>
          </p:cNvPr>
          <p:cNvSpPr txBox="1"/>
          <p:nvPr/>
        </p:nvSpPr>
        <p:spPr>
          <a:xfrm>
            <a:off x="371475" y="2951946"/>
            <a:ext cx="11444288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lang="en-US" sz="2500" dirty="0">
                <a:solidFill>
                  <a:srgbClr val="1A1A1A"/>
                </a:solidFill>
              </a:rPr>
              <a:t>Recap of previous work</a:t>
            </a:r>
          </a:p>
          <a:p>
            <a:pPr algn="ctr">
              <a:spcAft>
                <a:spcPts val="500"/>
              </a:spcAft>
            </a:pPr>
            <a:r>
              <a:rPr lang="en-US" sz="2500" dirty="0">
                <a:solidFill>
                  <a:srgbClr val="1A1A1A"/>
                </a:solidFill>
              </a:rPr>
              <a:t>&amp;</a:t>
            </a:r>
          </a:p>
          <a:p>
            <a:pPr algn="ctr">
              <a:spcAft>
                <a:spcPts val="500"/>
              </a:spcAft>
            </a:pPr>
            <a:r>
              <a:rPr lang="en-US" sz="2500" dirty="0">
                <a:solidFill>
                  <a:srgbClr val="1A1A1A"/>
                </a:solidFill>
              </a:rPr>
              <a:t>Challenges </a:t>
            </a:r>
            <a:endParaRPr sz="2500" dirty="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02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5FA8"/>
                </a:solidFill>
              </a:rPr>
              <a:t>Perception Layer: Object Detection + Depth Estimation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11274552" cy="0"/>
          </a:xfrm>
          <a:prstGeom prst="line">
            <a:avLst/>
          </a:prstGeom>
          <a:ln w="19050">
            <a:solidFill>
              <a:srgbClr val="1A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</a:rPr>
              <a:t>Object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8854" y="1554479"/>
            <a:ext cx="6243638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dirty="0"/>
              <a:t>•  Two YOLO models run in parallel on each frame</a:t>
            </a:r>
            <a:r>
              <a:rPr lang="en-US" sz="1700" dirty="0"/>
              <a:t> from camera</a:t>
            </a:r>
            <a:endParaRPr sz="1700" dirty="0"/>
          </a:p>
          <a:p>
            <a:pPr>
              <a:spcAft>
                <a:spcPts val="300"/>
              </a:spcAft>
            </a:pPr>
            <a:r>
              <a:rPr sz="1700" dirty="0"/>
              <a:t>     –  YOLOv8n  (COCO pretrained)  —  detects humans  (class 0)</a:t>
            </a:r>
          </a:p>
          <a:p>
            <a:pPr>
              <a:spcAft>
                <a:spcPts val="300"/>
              </a:spcAft>
            </a:pPr>
            <a:r>
              <a:rPr sz="1700" dirty="0"/>
              <a:t>     –  </a:t>
            </a:r>
            <a:r>
              <a:rPr sz="1700" dirty="0" err="1"/>
              <a:t>best.pt</a:t>
            </a:r>
            <a:r>
              <a:rPr sz="1700" dirty="0"/>
              <a:t>  (</a:t>
            </a:r>
            <a:r>
              <a:rPr lang="en-US" sz="1700" dirty="0"/>
              <a:t>trained on YOLOv8n, fine-tuned on unitree Go1</a:t>
            </a:r>
          </a:p>
          <a:p>
            <a:pPr>
              <a:spcAft>
                <a:spcPts val="500"/>
              </a:spcAft>
            </a:pPr>
            <a:r>
              <a:rPr sz="1700" dirty="0"/>
              <a:t>•  Output per detection: </a:t>
            </a:r>
            <a:r>
              <a:rPr lang="en-US" sz="1700" dirty="0"/>
              <a:t> </a:t>
            </a:r>
          </a:p>
          <a:p>
            <a:pPr>
              <a:spcAft>
                <a:spcPts val="500"/>
              </a:spcAft>
            </a:pPr>
            <a:r>
              <a:rPr lang="en-US" sz="1700" dirty="0"/>
              <a:t>	- </a:t>
            </a:r>
            <a:r>
              <a:rPr lang="en-IN" sz="1700" dirty="0" err="1"/>
              <a:t>eg.</a:t>
            </a:r>
            <a:r>
              <a:rPr lang="en-IN" sz="1700" dirty="0"/>
              <a:t> </a:t>
            </a:r>
            <a:r>
              <a:rPr lang="en-IN" dirty="0" err="1"/>
              <a:t>HazardObject</a:t>
            </a:r>
            <a:r>
              <a:rPr lang="en-IN" dirty="0"/>
              <a:t>(category='HUMAN', </a:t>
            </a:r>
            <a:r>
              <a:rPr lang="en-IN" dirty="0" err="1"/>
              <a:t>distance_m</a:t>
            </a:r>
            <a:r>
              <a:rPr lang="en-IN" dirty="0"/>
              <a:t>=1.2, box=(340, 150, 120, 280), confidence=0.87),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dirty="0"/>
              <a:t>Dataset from </a:t>
            </a:r>
            <a:r>
              <a:rPr lang="en-US" dirty="0" err="1"/>
              <a:t>Roboflow</a:t>
            </a:r>
            <a:r>
              <a:rPr lang="en-US" dirty="0"/>
              <a:t>  : detects Unitree Go2 robot </a:t>
            </a:r>
            <a:endParaRPr sz="1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E8C460-BCAB-F085-F81F-67964AA20476}"/>
              </a:ext>
            </a:extLst>
          </p:cNvPr>
          <p:cNvSpPr txBox="1"/>
          <p:nvPr/>
        </p:nvSpPr>
        <p:spPr>
          <a:xfrm>
            <a:off x="457200" y="4010859"/>
            <a:ext cx="114027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Challenges: </a:t>
            </a:r>
          </a:p>
          <a:p>
            <a:endParaRPr lang="en-US" b="1" dirty="0">
              <a:highlight>
                <a:srgbClr val="FFFF00"/>
              </a:highlight>
            </a:endParaRPr>
          </a:p>
          <a:p>
            <a:pPr marL="342900" indent="-342900"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It uses very old model - yolo v4 model, currently existing version include yolo v26, yolo v11</a:t>
            </a:r>
          </a:p>
          <a:p>
            <a:pPr marL="342900" indent="-342900"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Existing Yolo v3/v4  for “human” from </a:t>
            </a:r>
            <a:r>
              <a:rPr lang="en-US" b="1" dirty="0" err="1">
                <a:highlight>
                  <a:srgbClr val="FFFF00"/>
                </a:highlight>
              </a:rPr>
              <a:t>rrlib</a:t>
            </a:r>
            <a:r>
              <a:rPr lang="en-US" b="1" dirty="0">
                <a:highlight>
                  <a:srgbClr val="FFFF00"/>
                </a:highlight>
              </a:rPr>
              <a:t> is available but threshold 0.15 only </a:t>
            </a:r>
          </a:p>
          <a:p>
            <a:pPr marL="342900" indent="-342900"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How to train robot?</a:t>
            </a:r>
          </a:p>
          <a:p>
            <a:pPr marL="800100" lvl="1" indent="-342900"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Train in python and then run ONNX in </a:t>
            </a:r>
            <a:r>
              <a:rPr lang="en-US" b="1" dirty="0" err="1">
                <a:highlight>
                  <a:srgbClr val="FFFF00"/>
                </a:highlight>
              </a:rPr>
              <a:t>c++</a:t>
            </a:r>
            <a:r>
              <a:rPr lang="en-US" b="1" dirty="0">
                <a:highlight>
                  <a:srgbClr val="FFFF00"/>
                </a:highlight>
              </a:rPr>
              <a:t>  </a:t>
            </a:r>
            <a:r>
              <a:rPr lang="en-US" b="1" dirty="0">
                <a:highlight>
                  <a:srgbClr val="FFFF00"/>
                </a:highlight>
                <a:sym typeface="Wingdings" pitchFamily="2" charset="2"/>
              </a:rPr>
              <a:t> but can’t use higher yolo version as OpenCV version in </a:t>
            </a:r>
            <a:r>
              <a:rPr lang="en-US" b="1" dirty="0" err="1">
                <a:highlight>
                  <a:srgbClr val="FFFF00"/>
                </a:highlight>
                <a:sym typeface="Wingdings" pitchFamily="2" charset="2"/>
              </a:rPr>
              <a:t>finroc</a:t>
            </a:r>
            <a:r>
              <a:rPr lang="en-US" b="1" dirty="0">
                <a:highlight>
                  <a:srgbClr val="FFFF00"/>
                </a:highlight>
                <a:sym typeface="Wingdings" pitchFamily="2" charset="2"/>
              </a:rPr>
              <a:t> is lower compared to expected</a:t>
            </a:r>
          </a:p>
          <a:p>
            <a:pPr marL="800100" lvl="1" indent="-342900">
              <a:buAutoNum type="arabicPeriod"/>
            </a:pPr>
            <a:r>
              <a:rPr lang="en-US" b="1" dirty="0">
                <a:highlight>
                  <a:srgbClr val="FFFF00"/>
                </a:highlight>
                <a:sym typeface="Wingdings" pitchFamily="2" charset="2"/>
              </a:rPr>
              <a:t>Train in Darknet   Needs CUDA toolkit but can’t install due to access limit, here it takes 40hours in CPU while just 1 hour in GPU</a:t>
            </a:r>
            <a:endParaRPr lang="en-US" b="1" dirty="0">
              <a:highlight>
                <a:srgbClr val="FFFF00"/>
              </a:highlight>
            </a:endParaRPr>
          </a:p>
          <a:p>
            <a:pPr marL="800100" lvl="1" indent="-342900">
              <a:buAutoNum type="arabicPeriod"/>
            </a:pP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8D50B9-AD04-BE68-EC68-C26CD286CB5D}"/>
              </a:ext>
            </a:extLst>
          </p:cNvPr>
          <p:cNvSpPr/>
          <p:nvPr/>
        </p:nvSpPr>
        <p:spPr>
          <a:xfrm>
            <a:off x="214313" y="3793553"/>
            <a:ext cx="11844337" cy="29215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78CD93-BD04-C057-5E8C-EF7AFAA67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825" y="1012521"/>
            <a:ext cx="3686175" cy="27324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1A5FA8"/>
                </a:solidFill>
              </a:rPr>
              <a:t>Hazard Identification</a:t>
            </a:r>
            <a:r>
              <a:rPr lang="en-US" sz="3200" b="1" i="0" dirty="0">
                <a:solidFill>
                  <a:srgbClr val="1A5FA8"/>
                </a:solidFill>
              </a:rPr>
              <a:t> &amp; </a:t>
            </a:r>
            <a:r>
              <a:rPr lang="en-IN" sz="3200" b="1" dirty="0">
                <a:solidFill>
                  <a:srgbClr val="1A5FA8"/>
                </a:solidFill>
              </a:rPr>
              <a:t>Risk Calculation – </a:t>
            </a:r>
            <a:r>
              <a:rPr lang="en-IN" sz="3200" b="1" dirty="0">
                <a:solidFill>
                  <a:srgbClr val="1A5FA8"/>
                </a:solidFill>
                <a:highlight>
                  <a:srgbClr val="FFFF00"/>
                </a:highlight>
              </a:rPr>
              <a:t>NOT implemented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11274552" cy="0"/>
          </a:xfrm>
          <a:prstGeom prst="line">
            <a:avLst/>
          </a:prstGeom>
          <a:ln w="19050">
            <a:solidFill>
              <a:srgbClr val="1A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</a:rPr>
              <a:t>HazardObject  —  what each detected entity carries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0972800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dirty="0">
                <a:solidFill>
                  <a:srgbClr val="1A1A1A"/>
                </a:solidFill>
              </a:rPr>
              <a:t>•  category     —  semantic class  (HUMAN or ROBOT)</a:t>
            </a:r>
          </a:p>
          <a:p>
            <a:pPr>
              <a:spcAft>
                <a:spcPts val="500"/>
              </a:spcAft>
            </a:pPr>
            <a:r>
              <a:rPr sz="1700" dirty="0">
                <a:solidFill>
                  <a:srgbClr val="1A1A1A"/>
                </a:solidFill>
              </a:rPr>
              <a:t>•  </a:t>
            </a:r>
            <a:r>
              <a:rPr sz="1700" dirty="0" err="1">
                <a:solidFill>
                  <a:srgbClr val="1A1A1A"/>
                </a:solidFill>
              </a:rPr>
              <a:t>distance_m</a:t>
            </a:r>
            <a:r>
              <a:rPr sz="1700" dirty="0">
                <a:solidFill>
                  <a:srgbClr val="1A1A1A"/>
                </a:solidFill>
              </a:rPr>
              <a:t>  —  closest separation from the robot body </a:t>
            </a:r>
          </a:p>
          <a:p>
            <a:pPr>
              <a:spcAft>
                <a:spcPts val="500"/>
              </a:spcAft>
            </a:pPr>
            <a:r>
              <a:rPr sz="1700" dirty="0">
                <a:solidFill>
                  <a:srgbClr val="1A1A1A"/>
                </a:solidFill>
              </a:rPr>
              <a:t>•  box              —  bounding box  (x, y, w, h)</a:t>
            </a:r>
          </a:p>
          <a:p>
            <a:pPr>
              <a:spcAft>
                <a:spcPts val="500"/>
              </a:spcAft>
            </a:pPr>
            <a:r>
              <a:rPr sz="1700" dirty="0">
                <a:solidFill>
                  <a:srgbClr val="1A1A1A"/>
                </a:solidFill>
              </a:rPr>
              <a:t>•  confidence   —  YOLO detection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6588" y="1085389"/>
            <a:ext cx="385762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1A1A1A"/>
                </a:solidFill>
              </a:rPr>
              <a:t>Three Hazard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0724" y="1423521"/>
            <a:ext cx="6600825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dirty="0">
                <a:solidFill>
                  <a:srgbClr val="1A1A1A"/>
                </a:solidFill>
              </a:rPr>
              <a:t>•  LIVING   —  humans, animals                     weight  w = 3.0</a:t>
            </a:r>
          </a:p>
          <a:p>
            <a:pPr>
              <a:spcAft>
                <a:spcPts val="500"/>
              </a:spcAft>
            </a:pPr>
            <a:r>
              <a:rPr sz="1700" dirty="0">
                <a:solidFill>
                  <a:srgbClr val="1A1A1A"/>
                </a:solidFill>
              </a:rPr>
              <a:t>•  DYNAMIC —  robots, vehicles                    weight  w = 2.0</a:t>
            </a:r>
          </a:p>
          <a:p>
            <a:pPr>
              <a:spcAft>
                <a:spcPts val="500"/>
              </a:spcAft>
            </a:pPr>
            <a:r>
              <a:rPr sz="1700" dirty="0">
                <a:solidFill>
                  <a:srgbClr val="1A1A1A"/>
                </a:solidFill>
              </a:rPr>
              <a:t>•  STATIC    —  walls, furniture, obstacles</a:t>
            </a:r>
            <a:r>
              <a:rPr lang="en-US" sz="1700" dirty="0">
                <a:solidFill>
                  <a:srgbClr val="1A1A1A"/>
                </a:solidFill>
              </a:rPr>
              <a:t>, others</a:t>
            </a:r>
            <a:r>
              <a:rPr sz="1700" dirty="0">
                <a:solidFill>
                  <a:srgbClr val="1A1A1A"/>
                </a:solidFill>
              </a:rPr>
              <a:t>    weight  w = 1.0</a:t>
            </a:r>
          </a:p>
          <a:p>
            <a:pPr>
              <a:spcAft>
                <a:spcPts val="500"/>
              </a:spcAft>
            </a:pPr>
            <a:r>
              <a:rPr sz="1700" dirty="0">
                <a:solidFill>
                  <a:srgbClr val="1A1A1A"/>
                </a:solidFill>
              </a:rPr>
              <a:t>•  Ordering enforced:  </a:t>
            </a:r>
            <a:r>
              <a:rPr sz="1700" dirty="0" err="1">
                <a:solidFill>
                  <a:srgbClr val="1A1A1A"/>
                </a:solidFill>
              </a:rPr>
              <a:t>w_living</a:t>
            </a:r>
            <a:r>
              <a:rPr sz="1700" dirty="0">
                <a:solidFill>
                  <a:srgbClr val="1A1A1A"/>
                </a:solidFill>
              </a:rPr>
              <a:t>  &gt;  </a:t>
            </a:r>
            <a:r>
              <a:rPr sz="1700" dirty="0" err="1">
                <a:solidFill>
                  <a:srgbClr val="1A1A1A"/>
                </a:solidFill>
              </a:rPr>
              <a:t>w_dynamic</a:t>
            </a:r>
            <a:r>
              <a:rPr sz="1700" dirty="0">
                <a:solidFill>
                  <a:srgbClr val="1A1A1A"/>
                </a:solidFill>
              </a:rPr>
              <a:t>  &gt;  </a:t>
            </a:r>
            <a:r>
              <a:rPr sz="1700" dirty="0" err="1">
                <a:solidFill>
                  <a:srgbClr val="1A1A1A"/>
                </a:solidFill>
              </a:rPr>
              <a:t>w_static</a:t>
            </a:r>
            <a:endParaRPr sz="1700" dirty="0">
              <a:solidFill>
                <a:srgbClr val="1A1A1A"/>
              </a:solidFill>
            </a:endParaRPr>
          </a:p>
          <a:p>
            <a:pPr>
              <a:spcAft>
                <a:spcPts val="500"/>
              </a:spcAft>
            </a:pPr>
            <a:r>
              <a:rPr sz="1700" dirty="0">
                <a:solidFill>
                  <a:srgbClr val="1A1A1A"/>
                </a:solidFill>
              </a:rPr>
              <a:t>•  Groups many YOLO classes into three safety-relevant distinctions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8A14B7-61A0-6F09-FC4C-482C450B8751}"/>
              </a:ext>
            </a:extLst>
          </p:cNvPr>
          <p:cNvSpPr txBox="1"/>
          <p:nvPr/>
        </p:nvSpPr>
        <p:spPr>
          <a:xfrm>
            <a:off x="457200" y="3333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 err="1">
                <a:solidFill>
                  <a:srgbClr val="1A5FA8"/>
                </a:solidFill>
              </a:rPr>
              <a:t>R_i</a:t>
            </a:r>
            <a:r>
              <a:rPr lang="en-IN" sz="2400" b="1" i="0" dirty="0">
                <a:solidFill>
                  <a:srgbClr val="1A5FA8"/>
                </a:solidFill>
              </a:rPr>
              <a:t>  =  w(</a:t>
            </a:r>
            <a:r>
              <a:rPr lang="en-IN" sz="2400" b="1" i="0" dirty="0" err="1">
                <a:solidFill>
                  <a:srgbClr val="1A5FA8"/>
                </a:solidFill>
              </a:rPr>
              <a:t>c_i</a:t>
            </a:r>
            <a:r>
              <a:rPr lang="en-IN" sz="2400" b="1" i="0" dirty="0">
                <a:solidFill>
                  <a:srgbClr val="1A5FA8"/>
                </a:solidFill>
              </a:rPr>
              <a:t>)  ·  g(</a:t>
            </a:r>
            <a:r>
              <a:rPr lang="en-IN" sz="2400" b="1" i="0" dirty="0" err="1">
                <a:solidFill>
                  <a:srgbClr val="1A5FA8"/>
                </a:solidFill>
              </a:rPr>
              <a:t>d_i</a:t>
            </a:r>
            <a:r>
              <a:rPr lang="en-IN" sz="2400" b="1" i="0" dirty="0">
                <a:solidFill>
                  <a:srgbClr val="1A5FA8"/>
                </a:solidFill>
              </a:rPr>
              <a:t>)  ·  ( 1 + </a:t>
            </a:r>
            <a:r>
              <a:rPr lang="el-GR" sz="2400" b="1" i="0" dirty="0">
                <a:solidFill>
                  <a:srgbClr val="1A5FA8"/>
                </a:solidFill>
              </a:rPr>
              <a:t>α · </a:t>
            </a:r>
            <a:r>
              <a:rPr lang="en-IN" sz="2400" b="1" i="0" dirty="0" err="1">
                <a:solidFill>
                  <a:srgbClr val="1A5FA8"/>
                </a:solidFill>
              </a:rPr>
              <a:t>ṽ</a:t>
            </a:r>
            <a:r>
              <a:rPr lang="en-IN" sz="2400" b="1" i="0" dirty="0">
                <a:solidFill>
                  <a:srgbClr val="1A5FA8"/>
                </a:solidFill>
              </a:rPr>
              <a:t> 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262E35-2479-5506-4ED3-ECB08684F921}"/>
              </a:ext>
            </a:extLst>
          </p:cNvPr>
          <p:cNvSpPr txBox="1"/>
          <p:nvPr/>
        </p:nvSpPr>
        <p:spPr>
          <a:xfrm>
            <a:off x="594360" y="3836000"/>
            <a:ext cx="10972800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IN" sz="1700" dirty="0">
                <a:solidFill>
                  <a:srgbClr val="1A1A1A"/>
                </a:solidFill>
              </a:rPr>
              <a:t>•  w(</a:t>
            </a:r>
            <a:r>
              <a:rPr lang="en-IN" sz="1700" dirty="0" err="1">
                <a:solidFill>
                  <a:srgbClr val="1A1A1A"/>
                </a:solidFill>
              </a:rPr>
              <a:t>c_i</a:t>
            </a:r>
            <a:r>
              <a:rPr lang="en-IN" sz="1700" dirty="0">
                <a:solidFill>
                  <a:srgbClr val="1A1A1A"/>
                </a:solidFill>
              </a:rPr>
              <a:t>)  —  category weight</a:t>
            </a:r>
          </a:p>
          <a:p>
            <a:pPr>
              <a:spcAft>
                <a:spcPts val="500"/>
              </a:spcAft>
            </a:pPr>
            <a:r>
              <a:rPr lang="en-IN" sz="1700" dirty="0">
                <a:solidFill>
                  <a:srgbClr val="1A1A1A"/>
                </a:solidFill>
              </a:rPr>
              <a:t>•  g(</a:t>
            </a:r>
            <a:r>
              <a:rPr lang="en-IN" sz="1700" dirty="0" err="1">
                <a:solidFill>
                  <a:srgbClr val="1A1A1A"/>
                </a:solidFill>
              </a:rPr>
              <a:t>d_i</a:t>
            </a:r>
            <a:r>
              <a:rPr lang="en-IN" sz="1700" dirty="0">
                <a:solidFill>
                  <a:srgbClr val="1A1A1A"/>
                </a:solidFill>
              </a:rPr>
              <a:t>)  —  inverse-distance risk:  g(d) = 1 / d</a:t>
            </a:r>
          </a:p>
          <a:p>
            <a:pPr>
              <a:spcAft>
                <a:spcPts val="500"/>
              </a:spcAft>
            </a:pPr>
            <a:r>
              <a:rPr lang="en-IN" sz="1700" dirty="0">
                <a:solidFill>
                  <a:srgbClr val="1A1A1A"/>
                </a:solidFill>
              </a:rPr>
              <a:t>•  </a:t>
            </a:r>
            <a:r>
              <a:rPr lang="en-IN" sz="1700" dirty="0" err="1">
                <a:solidFill>
                  <a:srgbClr val="1A1A1A"/>
                </a:solidFill>
              </a:rPr>
              <a:t>ṽ</a:t>
            </a:r>
            <a:r>
              <a:rPr lang="en-IN" sz="1700" dirty="0">
                <a:solidFill>
                  <a:srgbClr val="1A1A1A"/>
                </a:solidFill>
              </a:rPr>
              <a:t>  =  </a:t>
            </a:r>
            <a:r>
              <a:rPr lang="en-IN" sz="1700" dirty="0" err="1">
                <a:solidFill>
                  <a:srgbClr val="1A1A1A"/>
                </a:solidFill>
              </a:rPr>
              <a:t>v_robot</a:t>
            </a:r>
            <a:r>
              <a:rPr lang="en-IN" sz="1700" dirty="0">
                <a:solidFill>
                  <a:srgbClr val="1A1A1A"/>
                </a:solidFill>
              </a:rPr>
              <a:t> / </a:t>
            </a:r>
            <a:r>
              <a:rPr lang="en-IN" sz="1700" dirty="0" err="1">
                <a:solidFill>
                  <a:srgbClr val="1A1A1A"/>
                </a:solidFill>
              </a:rPr>
              <a:t>v_max</a:t>
            </a:r>
            <a:r>
              <a:rPr lang="en-IN" sz="1700" dirty="0">
                <a:solidFill>
                  <a:srgbClr val="1A1A1A"/>
                </a:solidFill>
              </a:rPr>
              <a:t>  —  normalised robot velocity  (</a:t>
            </a:r>
            <a:r>
              <a:rPr lang="el-GR" sz="1700" dirty="0">
                <a:solidFill>
                  <a:srgbClr val="1A1A1A"/>
                </a:solidFill>
              </a:rPr>
              <a:t>α = 0.5)</a:t>
            </a:r>
          </a:p>
          <a:p>
            <a:pPr>
              <a:spcAft>
                <a:spcPts val="300"/>
              </a:spcAft>
            </a:pPr>
            <a:r>
              <a:rPr lang="el-GR" sz="1700" dirty="0">
                <a:solidFill>
                  <a:srgbClr val="444444"/>
                </a:solidFill>
              </a:rPr>
              <a:t>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2F3570-6C7D-B24D-1BDC-B7BE19C24C6F}"/>
              </a:ext>
            </a:extLst>
          </p:cNvPr>
          <p:cNvSpPr txBox="1"/>
          <p:nvPr/>
        </p:nvSpPr>
        <p:spPr>
          <a:xfrm>
            <a:off x="457200" y="516713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200" b="1" i="0" dirty="0" err="1">
                <a:solidFill>
                  <a:srgbClr val="1A5FA8"/>
                </a:solidFill>
              </a:rPr>
              <a:t>R_env</a:t>
            </a:r>
            <a:r>
              <a:rPr lang="en-IN" sz="2200" b="1" i="0" dirty="0">
                <a:solidFill>
                  <a:srgbClr val="1A5FA8"/>
                </a:solidFill>
              </a:rPr>
              <a:t>  =  </a:t>
            </a:r>
            <a:r>
              <a:rPr lang="en-IN" sz="2200" b="1" i="0" dirty="0" err="1">
                <a:solidFill>
                  <a:srgbClr val="1A5FA8"/>
                </a:solidFill>
              </a:rPr>
              <a:t>max_i</a:t>
            </a:r>
            <a:r>
              <a:rPr lang="en-IN" sz="2200" b="1" i="0" dirty="0">
                <a:solidFill>
                  <a:srgbClr val="1A5FA8"/>
                </a:solidFill>
              </a:rPr>
              <a:t> ( </a:t>
            </a:r>
            <a:r>
              <a:rPr lang="en-IN" sz="2200" b="1" i="0" dirty="0" err="1">
                <a:solidFill>
                  <a:srgbClr val="1A5FA8"/>
                </a:solidFill>
              </a:rPr>
              <a:t>R_i</a:t>
            </a:r>
            <a:r>
              <a:rPr lang="en-IN" sz="2200" b="1" i="0" dirty="0">
                <a:solidFill>
                  <a:srgbClr val="1A5FA8"/>
                </a:solidFill>
              </a:rPr>
              <a:t> 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C8815D-66C6-2BE1-E470-56CA3974323C}"/>
              </a:ext>
            </a:extLst>
          </p:cNvPr>
          <p:cNvSpPr txBox="1"/>
          <p:nvPr/>
        </p:nvSpPr>
        <p:spPr>
          <a:xfrm>
            <a:off x="594360" y="5624795"/>
            <a:ext cx="62007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1A1A1A"/>
                </a:solidFill>
              </a:rPr>
              <a:t>Aggregation across all detected objects</a:t>
            </a:r>
          </a:p>
          <a:p>
            <a:pPr algn="l"/>
            <a:r>
              <a:rPr lang="en-IN" sz="1600" b="0" i="1" dirty="0">
                <a:solidFill>
                  <a:srgbClr val="444444"/>
                </a:solidFill>
              </a:rPr>
              <a:t>It check multiple hazard in the frame and score them on the screen </a:t>
            </a:r>
          </a:p>
          <a:p>
            <a:pPr algn="l"/>
            <a:r>
              <a:rPr lang="en-IN" sz="1600" b="0" i="1" dirty="0">
                <a:solidFill>
                  <a:srgbClr val="444444"/>
                </a:solidFill>
              </a:rPr>
              <a:t>BB, and highest risk holder is designated</a:t>
            </a:r>
          </a:p>
        </p:txBody>
      </p:sp>
      <p:cxnSp>
        <p:nvCxnSpPr>
          <p:cNvPr id="22" name="Connector 2">
            <a:extLst>
              <a:ext uri="{FF2B5EF4-FFF2-40B4-BE49-F238E27FC236}">
                <a16:creationId xmlns:a16="http://schemas.microsoft.com/office/drawing/2014/main" id="{9F032119-94B8-08B5-AABE-DFC7B22520D9}"/>
              </a:ext>
            </a:extLst>
          </p:cNvPr>
          <p:cNvCxnSpPr/>
          <p:nvPr/>
        </p:nvCxnSpPr>
        <p:spPr>
          <a:xfrm>
            <a:off x="457200" y="3126566"/>
            <a:ext cx="11274552" cy="0"/>
          </a:xfrm>
          <a:prstGeom prst="line">
            <a:avLst/>
          </a:prstGeom>
          <a:ln w="19050">
            <a:solidFill>
              <a:srgbClr val="1A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19731455-CF66-4B7A-E44F-7ECB10D66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974" y="3025325"/>
            <a:ext cx="5770851" cy="3832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5FA8"/>
                </a:solidFill>
              </a:rPr>
              <a:t>Discrete State Mapping + Visual Feedback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11274552" cy="0"/>
          </a:xfrm>
          <a:prstGeom prst="line">
            <a:avLst/>
          </a:prstGeom>
          <a:ln w="19050">
            <a:solidFill>
              <a:srgbClr val="1A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5156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1A1A1A"/>
                </a:solidFill>
              </a:rPr>
              <a:t>Continuous </a:t>
            </a:r>
            <a:r>
              <a:rPr sz="1800" b="1" i="0" dirty="0" err="1">
                <a:solidFill>
                  <a:srgbClr val="1A1A1A"/>
                </a:solidFill>
              </a:rPr>
              <a:t>R_env</a:t>
            </a:r>
            <a:r>
              <a:rPr sz="1800" b="1" i="0" dirty="0">
                <a:solidFill>
                  <a:srgbClr val="1A1A1A"/>
                </a:solidFill>
              </a:rPr>
              <a:t> mapped to five discrete states</a:t>
            </a:r>
            <a:r>
              <a:rPr lang="en-US" sz="1800" b="1" i="0" dirty="0">
                <a:solidFill>
                  <a:srgbClr val="1A1A1A"/>
                </a:solidFill>
              </a:rPr>
              <a:t>  —  now implemented in Finroc (</a:t>
            </a:r>
            <a:r>
              <a:rPr lang="en-US" sz="1800" b="1" i="0" dirty="0" err="1">
                <a:solidFill>
                  <a:srgbClr val="1A1A1A"/>
                </a:solidFill>
              </a:rPr>
              <a:t>mRiskAssessment</a:t>
            </a:r>
            <a:r>
              <a:rPr lang="en-US" sz="1800" b="1" i="0" dirty="0">
                <a:solidFill>
                  <a:srgbClr val="1A1A1A"/>
                </a:solidFill>
              </a:rPr>
              <a:t> →</a:t>
            </a:r>
          </a:p>
          <a:p>
            <a:pPr algn="l"/>
            <a:r>
              <a:rPr lang="en-US" sz="1800" b="1" i="0" dirty="0">
                <a:solidFill>
                  <a:srgbClr val="1A1A1A"/>
                </a:solidFill>
              </a:rPr>
              <a:t> mRiskToLampIndicator, front + rear)</a:t>
            </a:r>
            <a:endParaRPr sz="1800" b="1" i="0" dirty="0">
              <a:solidFill>
                <a:srgbClr val="1A1A1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1392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IN" dirty="0"/>
              <a:t>Percept into a </a:t>
            </a:r>
            <a:r>
              <a:rPr lang="en-IN" b="1" dirty="0"/>
              <a:t>discrete risk level 0–4</a:t>
            </a:r>
          </a:p>
          <a:p>
            <a:pPr>
              <a:spcAft>
                <a:spcPts val="500"/>
              </a:spcAft>
            </a:pPr>
            <a:r>
              <a:rPr lang="en-IN" dirty="0">
                <a:solidFill>
                  <a:srgbClr val="1A1A1A"/>
                </a:solidFill>
              </a:rPr>
              <a:t>Code : hardware/ — </a:t>
            </a:r>
            <a:r>
              <a:rPr lang="en-IN" dirty="0" err="1">
                <a:solidFill>
                  <a:srgbClr val="1A1A1A"/>
                </a:solidFill>
              </a:rPr>
              <a:t>gHardwareInterface</a:t>
            </a:r>
            <a:r>
              <a:rPr lang="en-IN" dirty="0">
                <a:solidFill>
                  <a:srgbClr val="1A1A1A"/>
                </a:solidFill>
              </a:rPr>
              <a:t>: RealSense cameras, CH341 tower lights, </a:t>
            </a:r>
            <a:r>
              <a:rPr lang="en-IN" dirty="0" err="1">
                <a:solidFill>
                  <a:srgbClr val="1A1A1A"/>
                </a:solidFill>
              </a:rPr>
              <a:t>BPearl</a:t>
            </a:r>
            <a:r>
              <a:rPr lang="en-IN" dirty="0">
                <a:solidFill>
                  <a:srgbClr val="1A1A1A"/>
                </a:solidFill>
              </a:rPr>
              <a:t> 3D lidar</a:t>
            </a:r>
          </a:p>
          <a:p>
            <a:pPr>
              <a:spcAft>
                <a:spcPts val="500"/>
              </a:spcAft>
            </a:pPr>
            <a:endParaRPr lang="en-IN" b="1" dirty="0">
              <a:solidFill>
                <a:srgbClr val="1A1A1A"/>
              </a:solidFill>
            </a:endParaRPr>
          </a:p>
          <a:p>
            <a:pPr>
              <a:spcAft>
                <a:spcPts val="500"/>
              </a:spcAft>
            </a:pPr>
            <a:r>
              <a:rPr lang="en-IN" dirty="0"/>
              <a:t> </a:t>
            </a:r>
            <a:endParaRPr sz="1700" dirty="0">
              <a:solidFill>
                <a:srgbClr val="1A1A1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689FB2-94F9-F14A-F294-9E10CD6FB9A8}"/>
              </a:ext>
            </a:extLst>
          </p:cNvPr>
          <p:cNvSpPr txBox="1"/>
          <p:nvPr/>
        </p:nvSpPr>
        <p:spPr>
          <a:xfrm>
            <a:off x="457200" y="2874713"/>
            <a:ext cx="11274552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endParaRPr lang="en-IN" b="1" dirty="0">
              <a:solidFill>
                <a:srgbClr val="1A1A1A"/>
              </a:solidFill>
              <a:highlight>
                <a:srgbClr val="FFFF00"/>
              </a:highlight>
            </a:endParaRPr>
          </a:p>
          <a:p>
            <a:pPr algn="l">
              <a:spcAft>
                <a:spcPts val="500"/>
              </a:spcAft>
            </a:pPr>
            <a:r>
              <a:rPr lang="en-IN" b="1" dirty="0">
                <a:solidFill>
                  <a:srgbClr val="1A1A1A"/>
                </a:solidFill>
                <a:highlight>
                  <a:srgbClr val="FFFF00"/>
                </a:highlight>
              </a:rPr>
              <a:t>Future Implementation : Replace distance to velocity based risk identification</a:t>
            </a:r>
          </a:p>
          <a:p>
            <a:pPr algn="l">
              <a:spcAft>
                <a:spcPts val="500"/>
              </a:spcAft>
            </a:pPr>
            <a:endParaRPr lang="en-IN" b="1" dirty="0">
              <a:solidFill>
                <a:srgbClr val="1A1A1A"/>
              </a:solidFill>
              <a:highlight>
                <a:srgbClr val="FFFF00"/>
              </a:highlight>
            </a:endParaRPr>
          </a:p>
          <a:p>
            <a:pPr algn="l">
              <a:spcAft>
                <a:spcPts val="500"/>
              </a:spcAft>
            </a:pPr>
            <a:r>
              <a:rPr lang="en-IN" sz="1800" b="1" dirty="0">
                <a:solidFill>
                  <a:srgbClr val="1A1A1A"/>
                </a:solidFill>
                <a:highlight>
                  <a:srgbClr val="FFFF00"/>
                </a:highlight>
              </a:rPr>
              <a:t>Challenges : </a:t>
            </a:r>
          </a:p>
          <a:p>
            <a:pPr algn="l">
              <a:spcAft>
                <a:spcPts val="500"/>
              </a:spcAft>
            </a:pPr>
            <a:r>
              <a:rPr lang="en-IN" sz="1800" b="1" dirty="0">
                <a:solidFill>
                  <a:srgbClr val="1A1A1A"/>
                </a:solidFill>
                <a:highlight>
                  <a:srgbClr val="FFFF00"/>
                </a:highlight>
              </a:rPr>
              <a:t>1. </a:t>
            </a:r>
            <a:r>
              <a:rPr lang="en-IN" b="1" dirty="0">
                <a:solidFill>
                  <a:srgbClr val="1A1A1A"/>
                </a:solidFill>
                <a:highlight>
                  <a:srgbClr val="FFFF00"/>
                </a:highlight>
              </a:rPr>
              <a:t>Camera velocity is difficult to find based on IMU data alone, it drifts a lot, need odometry / GPS data or other data for stable velocity</a:t>
            </a:r>
          </a:p>
          <a:p>
            <a:pPr algn="l">
              <a:spcAft>
                <a:spcPts val="500"/>
              </a:spcAft>
            </a:pPr>
            <a:r>
              <a:rPr lang="en-IN" sz="1800" b="1" dirty="0">
                <a:solidFill>
                  <a:srgbClr val="1A1A1A"/>
                </a:solidFill>
                <a:highlight>
                  <a:srgbClr val="FFFF00"/>
                </a:highlight>
              </a:rPr>
              <a:t>2. Object velocity based on only camera depth sensor </a:t>
            </a:r>
            <a:r>
              <a:rPr lang="en-IN" b="1" dirty="0">
                <a:solidFill>
                  <a:srgbClr val="1A1A1A"/>
                </a:solidFill>
                <a:highlight>
                  <a:srgbClr val="FFFF00"/>
                </a:highlight>
              </a:rPr>
              <a:t>limits distance - 3m</a:t>
            </a:r>
          </a:p>
          <a:p>
            <a:pPr algn="l">
              <a:spcAft>
                <a:spcPts val="500"/>
              </a:spcAft>
            </a:pPr>
            <a:r>
              <a:rPr lang="en-IN" sz="1800" b="1" dirty="0">
                <a:solidFill>
                  <a:srgbClr val="1A1A1A"/>
                </a:solidFill>
                <a:highlight>
                  <a:srgbClr val="FFFF00"/>
                </a:highlight>
              </a:rPr>
              <a:t>3. </a:t>
            </a:r>
            <a:r>
              <a:rPr lang="en-IN" sz="1800" b="1" dirty="0" err="1">
                <a:solidFill>
                  <a:srgbClr val="1A1A1A"/>
                </a:solidFill>
                <a:highlight>
                  <a:srgbClr val="FFFF00"/>
                </a:highlight>
              </a:rPr>
              <a:t>Realsense</a:t>
            </a:r>
            <a:r>
              <a:rPr lang="en-IN" sz="1800" b="1" dirty="0">
                <a:solidFill>
                  <a:srgbClr val="1A1A1A"/>
                </a:solidFill>
                <a:highlight>
                  <a:srgbClr val="FFFF00"/>
                </a:highlight>
              </a:rPr>
              <a:t> gives 0 output at depth &gt; 3m and &lt;0.3 m, hence its challenging to find if object has already hit the robot or is not visible to 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87FA95-1DE6-F9D2-7CC5-BB568D9707C6}"/>
              </a:ext>
            </a:extLst>
          </p:cNvPr>
          <p:cNvSpPr/>
          <p:nvPr/>
        </p:nvSpPr>
        <p:spPr>
          <a:xfrm>
            <a:off x="320040" y="2874713"/>
            <a:ext cx="11247120" cy="32974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1A5FA8"/>
                </a:solidFill>
              </a:rPr>
              <a:t>Update: Pipeline Ported into Finroc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14400"/>
            <a:ext cx="11274552" cy="0"/>
          </a:xfrm>
          <a:prstGeom prst="line">
            <a:avLst/>
          </a:prstGeom>
          <a:ln w="19050">
            <a:solidFill>
              <a:srgbClr val="1A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dirty="0">
                <a:solidFill>
                  <a:srgbClr val="777777"/>
                </a:solidFill>
              </a:rPr>
              <a:t>Python prototype (</a:t>
            </a:r>
            <a:r>
              <a:rPr sz="1600" b="0" dirty="0" err="1">
                <a:solidFill>
                  <a:srgbClr val="777777"/>
                </a:solidFill>
              </a:rPr>
              <a:t>yolo_detector.py</a:t>
            </a:r>
            <a:r>
              <a:rPr sz="1600" b="0" dirty="0">
                <a:solidFill>
                  <a:srgbClr val="777777"/>
                </a:solidFill>
              </a:rPr>
              <a:t> / </a:t>
            </a:r>
            <a:r>
              <a:rPr sz="1600" b="0" dirty="0" err="1">
                <a:solidFill>
                  <a:srgbClr val="777777"/>
                </a:solidFill>
              </a:rPr>
              <a:t>run_yolo_hazard.py</a:t>
            </a:r>
            <a:r>
              <a:rPr sz="1600" b="0" dirty="0">
                <a:solidFill>
                  <a:srgbClr val="777777"/>
                </a:solidFill>
              </a:rPr>
              <a:t>) reimplemented as </a:t>
            </a:r>
            <a:r>
              <a:rPr sz="1600" b="0" dirty="0" err="1">
                <a:solidFill>
                  <a:srgbClr val="777777"/>
                </a:solidFill>
              </a:rPr>
              <a:t>Finroc</a:t>
            </a:r>
            <a:r>
              <a:rPr sz="1600" b="0" dirty="0">
                <a:solidFill>
                  <a:srgbClr val="777777"/>
                </a:solidFill>
              </a:rPr>
              <a:t> C++ modules on the Scout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24837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dirty="0">
                <a:solidFill>
                  <a:srgbClr val="1A1A1A"/>
                </a:solidFill>
              </a:rPr>
              <a:t>What changed since the last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0325"/>
            <a:ext cx="10972800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dirty="0">
                <a:solidFill>
                  <a:srgbClr val="1A1A1A"/>
                </a:solidFill>
              </a:rPr>
              <a:t>•  Standalone Python loop  →  </a:t>
            </a:r>
            <a:r>
              <a:rPr sz="1700" b="0" dirty="0" err="1">
                <a:solidFill>
                  <a:srgbClr val="1A1A1A"/>
                </a:solidFill>
              </a:rPr>
              <a:t>Finroc</a:t>
            </a:r>
            <a:r>
              <a:rPr sz="1700" b="0" dirty="0">
                <a:solidFill>
                  <a:srgbClr val="1A1A1A"/>
                </a:solidFill>
              </a:rPr>
              <a:t> project  scout,  application  </a:t>
            </a:r>
            <a:r>
              <a:rPr sz="1700" b="0" dirty="0" err="1">
                <a:solidFill>
                  <a:srgbClr val="1A1A1A"/>
                </a:solidFill>
              </a:rPr>
              <a:t>ScoutControl</a:t>
            </a:r>
            <a:endParaRPr lang="en-US" sz="1700" b="0" dirty="0">
              <a:solidFill>
                <a:srgbClr val="1A1A1A"/>
              </a:solidFill>
            </a:endParaRPr>
          </a:p>
          <a:p>
            <a:pPr>
              <a:spcAft>
                <a:spcPts val="500"/>
              </a:spcAft>
            </a:pPr>
            <a:r>
              <a:rPr lang="en-IN" sz="1700" dirty="0">
                <a:solidFill>
                  <a:srgbClr val="1A1A1A"/>
                </a:solidFill>
              </a:rPr>
              <a:t>• </a:t>
            </a:r>
            <a:r>
              <a:rPr lang="en-IN" sz="1600" b="1" dirty="0">
                <a:solidFill>
                  <a:srgbClr val="1A1A1A"/>
                </a:solidFill>
              </a:rPr>
              <a:t>Code lives  </a:t>
            </a:r>
            <a:r>
              <a:rPr lang="en-IN" sz="1600" b="1" dirty="0">
                <a:solidFill>
                  <a:srgbClr val="1A1A1A"/>
                </a:solidFill>
                <a:sym typeface="Wingdings" pitchFamily="2" charset="2"/>
              </a:rPr>
              <a:t> </a:t>
            </a:r>
            <a:r>
              <a:rPr lang="en-IN" sz="1700" dirty="0" err="1">
                <a:solidFill>
                  <a:srgbClr val="1A1A1A"/>
                </a:solidFill>
              </a:rPr>
              <a:t>safety_demo</a:t>
            </a:r>
            <a:r>
              <a:rPr lang="en-IN" sz="1700" dirty="0">
                <a:solidFill>
                  <a:srgbClr val="1A1A1A"/>
                </a:solidFill>
              </a:rPr>
              <a:t>/ — </a:t>
            </a:r>
            <a:r>
              <a:rPr lang="en-IN" sz="1700" dirty="0" err="1">
                <a:solidFill>
                  <a:srgbClr val="1A1A1A"/>
                </a:solidFill>
              </a:rPr>
              <a:t>gSafetyDemo</a:t>
            </a:r>
            <a:r>
              <a:rPr lang="en-IN" sz="1700" dirty="0">
                <a:solidFill>
                  <a:srgbClr val="1A1A1A"/>
                </a:solidFill>
              </a:rPr>
              <a:t>, </a:t>
            </a:r>
            <a:r>
              <a:rPr lang="en-IN" sz="1700" dirty="0" err="1">
                <a:solidFill>
                  <a:srgbClr val="1A1A1A"/>
                </a:solidFill>
              </a:rPr>
              <a:t>mPercept</a:t>
            </a:r>
            <a:r>
              <a:rPr lang="en-IN" sz="1700" dirty="0">
                <a:solidFill>
                  <a:srgbClr val="1A1A1A"/>
                </a:solidFill>
              </a:rPr>
              <a:t>, </a:t>
            </a:r>
            <a:r>
              <a:rPr lang="en-IN" sz="1700" dirty="0" err="1">
                <a:solidFill>
                  <a:srgbClr val="1A1A1A"/>
                </a:solidFill>
              </a:rPr>
              <a:t>mRiskAssessment</a:t>
            </a:r>
            <a:r>
              <a:rPr lang="en-IN" sz="1700" dirty="0">
                <a:solidFill>
                  <a:srgbClr val="1A1A1A"/>
                </a:solidFill>
              </a:rPr>
              <a:t>, </a:t>
            </a:r>
            <a:r>
              <a:rPr lang="en-IN" sz="1700" dirty="0" err="1">
                <a:solidFill>
                  <a:srgbClr val="1A1A1A"/>
                </a:solidFill>
              </a:rPr>
              <a:t>mRiskToLampIndicator</a:t>
            </a:r>
            <a:r>
              <a:rPr lang="en-IN" sz="1700" dirty="0">
                <a:solidFill>
                  <a:srgbClr val="1A1A1A"/>
                </a:solidFill>
              </a:rPr>
              <a:t>, </a:t>
            </a:r>
            <a:r>
              <a:rPr lang="en-IN" sz="1700" dirty="0" err="1">
                <a:solidFill>
                  <a:srgbClr val="1A1A1A"/>
                </a:solidFill>
              </a:rPr>
              <a:t>mRiskVisualization</a:t>
            </a:r>
            <a:endParaRPr lang="en-IN" sz="1700" dirty="0">
              <a:solidFill>
                <a:srgbClr val="1A1A1A"/>
              </a:solidFill>
            </a:endParaRPr>
          </a:p>
          <a:p>
            <a:pPr>
              <a:spcAft>
                <a:spcPts val="500"/>
              </a:spcAft>
            </a:pPr>
            <a:endParaRPr lang="en-IN" sz="1700" dirty="0">
              <a:solidFill>
                <a:srgbClr val="1A1A1A"/>
              </a:solidFill>
            </a:endParaRPr>
          </a:p>
          <a:p>
            <a:pPr algn="l">
              <a:spcAft>
                <a:spcPts val="500"/>
              </a:spcAft>
            </a:pPr>
            <a:endParaRPr sz="1700" b="0" dirty="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3A8723-B5BA-628B-A30A-FCF7D0CFEE0F}"/>
              </a:ext>
            </a:extLst>
          </p:cNvPr>
          <p:cNvSpPr txBox="1"/>
          <p:nvPr/>
        </p:nvSpPr>
        <p:spPr>
          <a:xfrm>
            <a:off x="2442576" y="2642992"/>
            <a:ext cx="6350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245542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682</Words>
  <Application>Microsoft Macintosh PowerPoint</Application>
  <PresentationFormat>Custom</PresentationFormat>
  <Paragraphs>67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Shubham Singh</cp:lastModifiedBy>
  <cp:revision>9</cp:revision>
  <dcterms:created xsi:type="dcterms:W3CDTF">2013-01-27T09:14:16Z</dcterms:created>
  <dcterms:modified xsi:type="dcterms:W3CDTF">2026-07-29T08:50:17Z</dcterms:modified>
  <cp:category/>
</cp:coreProperties>
</file>